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C87DD4-7A88-42B5-A985-8C74AC870FA8}">
  <a:tblStyle styleId="{CDC87DD4-7A88-42B5-A985-8C74AC870F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Urbanist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JetBrains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-bold.fntdata"/><Relationship Id="rId1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1" Type="http://schemas.openxmlformats.org/officeDocument/2006/relationships/image" Target="../media/image11.png"/><Relationship Id="rId10" Type="http://schemas.openxmlformats.org/officeDocument/2006/relationships/image" Target="../media/image23.png"/><Relationship Id="rId12" Type="http://schemas.openxmlformats.org/officeDocument/2006/relationships/image" Target="../media/image22.png"/><Relationship Id="rId9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2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40580" y="2060227"/>
            <a:ext cx="6710838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Proposta de Viabilidade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302198"/>
            <a:ext cx="9525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065746" y="3721298"/>
            <a:ext cx="406050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Evolução de Ingestão de Dados: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Do Glue Monolítico para Multi-Engine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86187" y="4454723"/>
            <a:ext cx="461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Estratégia FinOps e Arquitetura de Plataforma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5229225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14475"/>
            <a:ext cx="522922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71550" y="190500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Impacto Financeiro (FinOps)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190500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Riscos de Operação e SLA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57300" y="2381250"/>
            <a:ext cx="41624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Alto custo de inicialização (Cold Start):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O Glue possui cobrança de um mínimo de DPU-Hour, tornando-se extremamente ineficiente financeiramente para micro-cargas (&lt; 50k linhas).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57300" y="4000500"/>
            <a:ext cx="41624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Desperdício Oculto: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Pagar pela ociosidade de hardware enquanto scripts aguardam processamento inicial ou lidam com pequenos deltas de dados.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058025" y="2381250"/>
            <a:ext cx="41624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Rigidez de Escala: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Dificuldade em provisionar granularmente os recursos exatos necessários para tabelas pequenas versus tabelas massivas.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58025" y="3429000"/>
            <a:ext cx="41624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Risco de SLA: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Dependência total de uma única engine (SPOF arquitetural). Falhas de capacidade na região impactam diretamente a entrega de dados críticos.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71550" y="240030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71550" y="401955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240030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2275" y="344805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Desafio Atual: Limitações do Modelo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AWS Glue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05276" y="1819275"/>
            <a:ext cx="11581447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A1FC"/>
                </a:solidFill>
                <a:latin typeface="Urbanist"/>
                <a:ea typeface="Urbanist"/>
                <a:cs typeface="Urbanist"/>
                <a:sym typeface="Urbanist"/>
              </a:rPr>
              <a:t>Apresentando a Plataforma Multi-Engine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286000" y="3686175"/>
            <a:ext cx="7620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Orquestração Inteligente utilizando AWS Step Functions para gerenciar e rotear cargas dinamicamente entre AWS Batch, Amazon EMR e AWS Glue.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16"/>
          <p:cNvGraphicFramePr/>
          <p:nvPr/>
        </p:nvGraphicFramePr>
        <p:xfrm>
          <a:off x="581025" y="1514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{CDC87DD4-7A88-42B5-A985-8C74AC870FA8}</a:tableStyleId>
              </a:tblPr>
              <a:tblGrid>
                <a:gridCol w="2095200"/>
                <a:gridCol w="2902750"/>
                <a:gridCol w="3015700"/>
                <a:gridCol w="3016300"/>
              </a:tblGrid>
              <a:tr h="96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EC7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EC7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Perfil de Carga Ideal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EC7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Vantagem Estratégica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EC7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Ponto de Atenção (Custo)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96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AWS Batch</a:t>
                      </a: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(Fargate/Spot)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Micro-cargas (&lt; 50k linhas), microsserviços.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Sem DPU mínimo. Custos reduzidos a centavos por uso via Spot.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Tempo inicial de pull da imagem Docker.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Amazon EMR</a:t>
                      </a: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(Spot/Transient)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Altíssimo volume (TB) ou processamento em lote agrupado.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Economia massiva com instâncias EC2 Spot (até 70% off).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Tempo de provisionamento do cluster (~5-8 min).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AWS Glue</a:t>
                      </a: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(Serverless)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Cargas ad-hoc ou pipelines críticos com SLAs rígidos.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Sem gerenciamento de infra; start garantido e escalável.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Custo fixo alto (~$0.44/DPU-hour). Penaliza tabelas pequenas.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6"/>
          <p:cNvSpPr/>
          <p:nvPr/>
        </p:nvSpPr>
        <p:spPr>
          <a:xfrm>
            <a:off x="581025" y="2143125"/>
            <a:ext cx="2095202" cy="1905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2676227" y="2143125"/>
            <a:ext cx="2902743" cy="1905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578971" y="2143125"/>
            <a:ext cx="3015704" cy="1905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594675" y="2143125"/>
            <a:ext cx="3016299" cy="1905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81025" y="3319462"/>
            <a:ext cx="209520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2676227" y="3319462"/>
            <a:ext cx="29027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578971" y="3319462"/>
            <a:ext cx="30157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594675" y="3319462"/>
            <a:ext cx="30162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81025" y="4481512"/>
            <a:ext cx="209520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676227" y="4481512"/>
            <a:ext cx="29027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578971" y="4481512"/>
            <a:ext cx="30157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594675" y="4481512"/>
            <a:ext cx="30162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Análise FinOps: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Comparativo de Engines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34861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514475"/>
            <a:ext cx="34861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514475"/>
            <a:ext cx="34861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905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876300" y="2895600"/>
            <a:ext cx="13801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AWS Batch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76300" y="3371850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Cargas Menores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76300" y="38100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Tabelas pequenas são automaticamente roteadas para o Batch, evitando o custo mínimo elevado do Glue e utilizando instâncias Spot sob demanda.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1905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4648200" y="2895600"/>
            <a:ext cx="171021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Amazon EMR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48200" y="3371850"/>
            <a:ext cx="2047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Cargas Regulares/Altas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648200" y="38100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Processamento pesado e previsível compartilha recursos em clusters EMR transientes alocados via Spot, diluindo custos massivamente.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1905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420100" y="2895600"/>
            <a:ext cx="12601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AWS Glue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20100" y="3371850"/>
            <a:ext cx="2133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Cargas Críticas/Fallback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20100" y="38100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Mantido como garantia de SLA. Acionado para execuções onde o provisionamento não pode atrasar ou como sistema de redundância.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060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01075" y="20574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Estratégia de </a:t>
            </a:r>
            <a:r>
              <a:rPr b="1" i="0" lang="en-US" sz="3600" u="none" cap="none" strike="noStrike">
                <a:solidFill>
                  <a:srgbClr val="00A1FC"/>
                </a:solidFill>
                <a:latin typeface="Urbanist"/>
                <a:ea typeface="Urbanist"/>
                <a:cs typeface="Urbanist"/>
                <a:sym typeface="Urbanist"/>
              </a:rPr>
              <a:t>Roteamento Inteligente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81025" y="1914525"/>
            <a:ext cx="4838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65%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81025" y="3533775"/>
            <a:ext cx="4838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Economia Estimada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572250" y="1514475"/>
            <a:ext cx="5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Redução Drástica em Ingestões Menores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572250" y="1990725"/>
            <a:ext cx="50387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Ao remover o "overhead" financeiro das instâncias nativas do Glue (DPU-Hour min) e migrar processos incrementais de tabelas pequenas para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AWS Batch com instâncias Spot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, projetamos uma contenção direta de até 65% nos custos destas cargas específicas.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572250" y="3571875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 Step Functions atua como guardião, garantindo que nenhum job pequeno gere custos desproporcionais.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Projeção de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Impacto Financeiro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522922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14475"/>
            <a:ext cx="5229225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971550" y="190500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O Conceito de Auto-Healing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71550" y="2381250"/>
            <a:ext cx="44481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Se o AWS Batch falhar devido à indisponibilidade momentânea de recursos (ex: InsufficientInstanceCapacity na AWS), o Step Functions não aborta a operação.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71550" y="3676650"/>
            <a:ext cx="44481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 arquitetura aplica um algoritmo de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Jitter &amp; Backoff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para realizar retentativas controladas (máx 2). Se o esgotamento persistir, o sistema promove um </a:t>
            </a:r>
            <a:r>
              <a:rPr b="0" i="1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failover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transparente.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772275" y="190500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Cascata de Proteção (SLA)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058025" y="2419350"/>
            <a:ext cx="4162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Camada 1: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AWS Batch (Foco máximo em Custo/Spot).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058025" y="3181350"/>
            <a:ext cx="4162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Camada 2 (Fallback):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Amazon EMR (Se Batch indisponível).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058025" y="3943350"/>
            <a:ext cx="41624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Camada 3 (Garantia):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AWS Glue (Se EMR falhar, o Glue Serverless garante a execução da carga crítica).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72275" y="243840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772275" y="320040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772275" y="396240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Resiliência Absoluta: </a:t>
            </a:r>
            <a:r>
              <a:rPr b="1" i="0" lang="en-US" sz="3600" u="none" cap="none" strike="noStrike">
                <a:solidFill>
                  <a:srgbClr val="00A1FC"/>
                </a:solidFill>
                <a:latin typeface="Urbanist"/>
                <a:ea typeface="Urbanist"/>
                <a:cs typeface="Urbanist"/>
                <a:sym typeface="Urbanist"/>
              </a:rPr>
              <a:t>Fallback Automático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34861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514475"/>
            <a:ext cx="34861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514475"/>
            <a:ext cx="34861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2476500" y="1381125"/>
            <a:ext cx="14859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EC7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248400" y="1381125"/>
            <a:ext cx="14859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EC7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0020300" y="1381125"/>
            <a:ext cx="14859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EC7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76300" y="1905000"/>
            <a:ext cx="304038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Fase 1: Infra &amp; Containers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76300" y="2705100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Definição de imagens Docker base para o AWS Batch e EMR. Orquestração de VPC, Subnets e permissões do IAM via Terraform.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648200" y="1905000"/>
            <a:ext cx="304038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Fase 2: Abstração de Código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648200" y="27051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Criação da lib </a:t>
            </a:r>
            <a:r>
              <a:rPr b="0" i="0" lang="en-US" sz="15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engdados_helper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 O princípio de </a:t>
            </a:r>
            <a:r>
              <a:rPr b="0" i="1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"Escreva uma vez, rode em qualquer lugar"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 Scripts agnósticos à engine que o executa.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420100" y="1905000"/>
            <a:ext cx="304038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Fase 3: Operação Central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420100" y="27051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Finalização da máquina de estados no Step Functions, integração DynamoDB para metadados e configuração de métricas CloudWatch.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Maturidade Operacional: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Curva de Adoção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348615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514475"/>
            <a:ext cx="348615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514475"/>
            <a:ext cx="348615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905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876300" y="2895600"/>
            <a:ext cx="21902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Driven by Metadata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76300" y="3324225"/>
            <a:ext cx="2895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Engenheiros de Dados não precisam provisionar infra. O sistema opera via Self-Service lendo configurações (Engine, VCPU, Memória) cadastradas em tabelas do DynamoDB.</a:t>
            </a:r>
            <a:endParaRPr/>
          </a:p>
        </p:txBody>
      </p:sp>
      <p:pic>
        <p:nvPicPr>
          <p:cNvPr descr="image.png" id="215" name="Google Shape;21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1905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4648200" y="2895600"/>
            <a:ext cx="259032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Resiliência Centralizada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648200" y="3324225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Alertas, retries e tratativas de erros padronizados no Step Functions. Atualizações de segurança afetam toda a esteira de uma única vez.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1905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8420100" y="2895600"/>
            <a:ext cx="17002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Agilidade Local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420100" y="3324225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Desenvolvimento ágil validado. O mesmo container Docker utilizado pelo AWS Batch pode rodar na máquina local do dev, acelerando a depuração.</a:t>
            </a:r>
            <a:endParaRPr/>
          </a:p>
        </p:txBody>
      </p:sp>
      <p:pic>
        <p:nvPicPr>
          <p:cNvPr descr="image.png" id="221" name="Google Shape;22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20574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060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5350" y="20574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Rumo a uma </a:t>
            </a:r>
            <a:r>
              <a:rPr b="1" i="0" lang="en-US" sz="3600" u="none" cap="none" strike="noStrike">
                <a:solidFill>
                  <a:srgbClr val="00A1FC"/>
                </a:solidFill>
                <a:latin typeface="Urbanist"/>
                <a:ea typeface="Urbanist"/>
                <a:cs typeface="Urbanist"/>
                <a:sym typeface="Urbanist"/>
              </a:rPr>
              <a:t>Plataforma de Dados Interna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1009650" y="1514475"/>
            <a:ext cx="909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Otimização Extrema de FinOps: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Fim do pagamento de over-provisioning do Glue. Economia substancial e rastreabilidade total de custos por pipeline.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009650" y="2276475"/>
            <a:ext cx="909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Proteção do SLA de Negócio: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Lógica de Auto-healing nativa. Uma falha de spot no Batch nunca resulta em falha de pipeline, devido aos fallbacks em cascata para EMR e Glue.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1009650" y="3038475"/>
            <a:ext cx="909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Abstração da Complexidade: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Para o Engenheiro de Dados final (usuário), a arquitetura continua simples (configuração no Dynamo). A complexidade é tratada centralmente pela Plataforma.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1009650" y="3800475"/>
            <a:ext cx="909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Futuro Proof (Escalabilidade Organizacional):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Prepara a engenharia do Itaú para operar sob o conceito de "Plataforma de Dados as a Service" internamente, aumentando a produtividade global.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581025" y="153352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81025" y="229552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81025" y="305752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81025" y="381952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43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05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670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8290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 que aprovar esta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Evolução?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305276" y="2224087"/>
            <a:ext cx="11581447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Perguntas?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81025" y="3509962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Obrigado pela atenção.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581025" y="4348162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Plataforma de Dados - Engenharia de Ingestão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